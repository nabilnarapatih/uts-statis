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webp" ContentType="image/webp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6" Type="http://schemas.microsoft.com/office/2020/02/relationships/classificationlabels" Target="docMetadata/LabelInfo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6"/>
  </p:notesMasterIdLst>
  <p:handoutMasterIdLst>
    <p:handoutMasterId r:id="rId17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21" r:id="rId14"/>
    <p:sldId id="297" r:id="rId15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5388" autoAdjust="0"/>
  </p:normalViewPr>
  <p:slideViewPr>
    <p:cSldViewPr snapToGrid="0" snapToObjects="1">
      <p:cViewPr varScale="1">
        <p:scale>
          <a:sx n="74" d="100"/>
          <a:sy n="74" d="100"/>
        </p:scale>
        <p:origin x="576" y="5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presProps" Target="presProps.xml" /><Relationship Id="rId3" Type="http://schemas.openxmlformats.org/officeDocument/2006/relationships/customXml" Target="../customXml/item3.xml" /><Relationship Id="rId21" Type="http://schemas.openxmlformats.org/officeDocument/2006/relationships/tableStyles" Target="tableStyles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handoutMaster" Target="handoutMasters/handoutMaster1.xml" /><Relationship Id="rId2" Type="http://schemas.openxmlformats.org/officeDocument/2006/relationships/customXml" Target="../customXml/item2.xml" /><Relationship Id="rId16" Type="http://schemas.openxmlformats.org/officeDocument/2006/relationships/notesMaster" Target="notesMasters/notesMaster1.xml" /><Relationship Id="rId20" Type="http://schemas.openxmlformats.org/officeDocument/2006/relationships/theme" Target="theme/theme1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10" Type="http://schemas.openxmlformats.org/officeDocument/2006/relationships/slide" Target="slides/slide6.xml" /><Relationship Id="rId19" Type="http://schemas.openxmlformats.org/officeDocument/2006/relationships/viewProps" Target="viewProps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microsoft.com/office/2018/10/relationships/authors" Target="author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1.sv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 /><Relationship Id="rId2" Type="http://schemas.openxmlformats.org/officeDocument/2006/relationships/image" Target="../media/image4.sv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ebp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Relationship Id="rId4" Type="http://schemas.openxmlformats.org/officeDocument/2006/relationships/hyperlink" Target="https://www.beritasatu.com/ekonomi/2981046/danantara-ajak-qatar-kembangkan-pariwisata-labuan-bajo" TargetMode="Externa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4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2.xml" /><Relationship Id="rId4" Type="http://schemas.openxmlformats.org/officeDocument/2006/relationships/image" Target="../media/image8.emf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8.xml" /><Relationship Id="rId4" Type="http://schemas.openxmlformats.org/officeDocument/2006/relationships/hyperlink" Target="https://pixnio.com/es/animales/manati/bajo-el-agua-fotografia-endengered-mammalmanatee" TargetMode="Externa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9.xml" /><Relationship Id="rId5" Type="http://schemas.openxmlformats.org/officeDocument/2006/relationships/image" Target="../media/image11.emf" /><Relationship Id="rId4" Type="http://schemas.openxmlformats.org/officeDocument/2006/relationships/package" Target="../embeddings/Microsoft_Excel_Worksheet1.xlsx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295072"/>
            <a:ext cx="6392421" cy="3831221"/>
          </a:xfrm>
        </p:spPr>
        <p:txBody>
          <a:bodyPr anchor="ctr"/>
          <a:lstStyle/>
          <a:p>
            <a:r>
              <a:rPr lang="en-US" dirty="0" err="1"/>
              <a:t>Analisis</a:t>
            </a:r>
            <a:r>
              <a:rPr lang="en-US" dirty="0"/>
              <a:t> Rata – rata lama </a:t>
            </a:r>
            <a:r>
              <a:rPr lang="en-US" dirty="0" err="1"/>
              <a:t>tamu</a:t>
            </a:r>
            <a:r>
              <a:rPr lang="en-US" dirty="0"/>
              <a:t> </a:t>
            </a:r>
            <a:r>
              <a:rPr lang="en-US" dirty="0" err="1"/>
              <a:t>menginap</a:t>
            </a:r>
            <a:r>
              <a:rPr lang="en-US" dirty="0"/>
              <a:t> (</a:t>
            </a:r>
            <a:r>
              <a:rPr lang="en-US" dirty="0" err="1"/>
              <a:t>rtlm</a:t>
            </a:r>
            <a:r>
              <a:rPr lang="en-US" dirty="0"/>
              <a:t>) di </a:t>
            </a:r>
            <a:r>
              <a:rPr lang="en-US" dirty="0" err="1"/>
              <a:t>labuan</a:t>
            </a:r>
            <a:r>
              <a:rPr lang="en-US" dirty="0"/>
              <a:t> bajo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19D6C3-733B-C3DF-6808-8920752A950B}"/>
              </a:ext>
            </a:extLst>
          </p:cNvPr>
          <p:cNvSpPr txBox="1"/>
          <p:nvPr/>
        </p:nvSpPr>
        <p:spPr>
          <a:xfrm>
            <a:off x="3657600" y="5537916"/>
            <a:ext cx="5112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Nama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kelompok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Nabil Bintang N (20249320007)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Satria Nur Ghani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Polanen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(20249320004)</a:t>
            </a:r>
            <a:endParaRPr lang="en-ID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PENDAHULUAN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Independen</a:t>
            </a:r>
            <a:r>
              <a:rPr lang="en-US" dirty="0"/>
              <a:t> (X) Waktu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Periode</a:t>
            </a:r>
            <a:r>
              <a:rPr lang="en-US" dirty="0"/>
              <a:t> </a:t>
            </a:r>
            <a:r>
              <a:rPr lang="en-US" dirty="0" err="1"/>
              <a:t>Bulanan</a:t>
            </a:r>
            <a:r>
              <a:rPr lang="en-US" dirty="0"/>
              <a:t> (Januari - </a:t>
            </a:r>
            <a:r>
              <a:rPr lang="en-US" dirty="0" err="1"/>
              <a:t>Desember</a:t>
            </a:r>
            <a:r>
              <a:rPr lang="en-US" dirty="0"/>
              <a:t> 2024) </a:t>
            </a:r>
          </a:p>
          <a:p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Dependen</a:t>
            </a:r>
            <a:r>
              <a:rPr lang="en-US" dirty="0"/>
              <a:t> (Y) Rata-Rata Lama Tamu </a:t>
            </a:r>
            <a:r>
              <a:rPr lang="en-US" dirty="0" err="1"/>
              <a:t>Menginap</a:t>
            </a:r>
            <a:r>
              <a:rPr lang="en-US" dirty="0"/>
              <a:t> (RTLM) di Labuan Bajo</a:t>
            </a:r>
          </a:p>
          <a:p>
            <a:r>
              <a:rPr lang="en-US" dirty="0"/>
              <a:t>Tujuan </a:t>
            </a:r>
            <a:r>
              <a:rPr lang="nn-NO" dirty="0"/>
              <a:t>Menganalisis fluktuasi lama menginap wisatawan  untuk memprediksi peluang bisnis di masa depan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3969593" cy="1436878"/>
          </a:xfrm>
        </p:spPr>
        <p:txBody>
          <a:bodyPr/>
          <a:lstStyle/>
          <a:p>
            <a:r>
              <a:rPr lang="en-US" dirty="0" err="1"/>
              <a:t>Sumber</a:t>
            </a:r>
            <a:r>
              <a:rPr lang="en-US" dirty="0"/>
              <a:t> data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58E4D2F-993E-EA5B-736E-013FA1E3F39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0784" r="30784"/>
          <a:stretch>
            <a:fillRect/>
          </a:stretch>
        </p:blipFill>
        <p:spPr/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B01754-CE13-1913-007C-292ECFE1CE22}"/>
              </a:ext>
            </a:extLst>
          </p:cNvPr>
          <p:cNvSpPr txBox="1"/>
          <p:nvPr/>
        </p:nvSpPr>
        <p:spPr>
          <a:xfrm>
            <a:off x="5768284" y="2097856"/>
            <a:ext cx="38379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ID" dirty="0">
                <a:solidFill>
                  <a:schemeClr val="accent6"/>
                </a:solidFill>
              </a:rPr>
              <a:t>https://www.bps.go.id</a:t>
            </a:r>
          </a:p>
          <a:p>
            <a:pPr latinLnBrk="1"/>
            <a:endParaRPr lang="en-ID" dirty="0">
              <a:solidFill>
                <a:schemeClr val="accent6"/>
              </a:solidFill>
            </a:endParaRPr>
          </a:p>
          <a:p>
            <a:pPr latinLnBrk="1"/>
            <a:r>
              <a:rPr lang="en-ID" dirty="0">
                <a:solidFill>
                  <a:schemeClr val="accent6"/>
                </a:solidFill>
              </a:rPr>
              <a:t>Rata-Rata Lama Tamu </a:t>
            </a:r>
            <a:r>
              <a:rPr lang="en-ID" dirty="0" err="1">
                <a:solidFill>
                  <a:schemeClr val="accent6"/>
                </a:solidFill>
              </a:rPr>
              <a:t>Menginap</a:t>
            </a:r>
            <a:r>
              <a:rPr lang="en-ID" dirty="0">
                <a:solidFill>
                  <a:schemeClr val="accent6"/>
                </a:solidFill>
              </a:rPr>
              <a:t> pada Hotel Bintang di Labuan Bajo </a:t>
            </a:r>
            <a:r>
              <a:rPr lang="en-ID" dirty="0" err="1">
                <a:solidFill>
                  <a:schemeClr val="accent6"/>
                </a:solidFill>
              </a:rPr>
              <a:t>Tahun</a:t>
            </a:r>
            <a:r>
              <a:rPr lang="en-ID" dirty="0">
                <a:solidFill>
                  <a:schemeClr val="accent6"/>
                </a:solidFill>
              </a:rPr>
              <a:t> 2024</a:t>
            </a:r>
          </a:p>
          <a:p>
            <a:endParaRPr lang="en-ID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B141C66-B011-3C83-7BA8-7ABFCCA07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372908"/>
              </p:ext>
            </p:extLst>
          </p:nvPr>
        </p:nvGraphicFramePr>
        <p:xfrm>
          <a:off x="841418" y="1918951"/>
          <a:ext cx="10509163" cy="2279560"/>
        </p:xfrm>
        <a:graphic>
          <a:graphicData uri="http://schemas.openxmlformats.org/drawingml/2006/table">
            <a:tbl>
              <a:tblPr/>
              <a:tblGrid>
                <a:gridCol w="934937">
                  <a:extLst>
                    <a:ext uri="{9D8B030D-6E8A-4147-A177-3AD203B41FA5}">
                      <a16:colId xmlns:a16="http://schemas.microsoft.com/office/drawing/2014/main" val="3069285127"/>
                    </a:ext>
                  </a:extLst>
                </a:gridCol>
                <a:gridCol w="757417">
                  <a:extLst>
                    <a:ext uri="{9D8B030D-6E8A-4147-A177-3AD203B41FA5}">
                      <a16:colId xmlns:a16="http://schemas.microsoft.com/office/drawing/2014/main" val="2959260499"/>
                    </a:ext>
                  </a:extLst>
                </a:gridCol>
                <a:gridCol w="757417">
                  <a:extLst>
                    <a:ext uri="{9D8B030D-6E8A-4147-A177-3AD203B41FA5}">
                      <a16:colId xmlns:a16="http://schemas.microsoft.com/office/drawing/2014/main" val="3413504284"/>
                    </a:ext>
                  </a:extLst>
                </a:gridCol>
                <a:gridCol w="757417">
                  <a:extLst>
                    <a:ext uri="{9D8B030D-6E8A-4147-A177-3AD203B41FA5}">
                      <a16:colId xmlns:a16="http://schemas.microsoft.com/office/drawing/2014/main" val="3501421863"/>
                    </a:ext>
                  </a:extLst>
                </a:gridCol>
                <a:gridCol w="757417">
                  <a:extLst>
                    <a:ext uri="{9D8B030D-6E8A-4147-A177-3AD203B41FA5}">
                      <a16:colId xmlns:a16="http://schemas.microsoft.com/office/drawing/2014/main" val="2197470694"/>
                    </a:ext>
                  </a:extLst>
                </a:gridCol>
                <a:gridCol w="757417">
                  <a:extLst>
                    <a:ext uri="{9D8B030D-6E8A-4147-A177-3AD203B41FA5}">
                      <a16:colId xmlns:a16="http://schemas.microsoft.com/office/drawing/2014/main" val="4109970214"/>
                    </a:ext>
                  </a:extLst>
                </a:gridCol>
                <a:gridCol w="757417">
                  <a:extLst>
                    <a:ext uri="{9D8B030D-6E8A-4147-A177-3AD203B41FA5}">
                      <a16:colId xmlns:a16="http://schemas.microsoft.com/office/drawing/2014/main" val="2765595085"/>
                    </a:ext>
                  </a:extLst>
                </a:gridCol>
                <a:gridCol w="1017779">
                  <a:extLst>
                    <a:ext uri="{9D8B030D-6E8A-4147-A177-3AD203B41FA5}">
                      <a16:colId xmlns:a16="http://schemas.microsoft.com/office/drawing/2014/main" val="669013167"/>
                    </a:ext>
                  </a:extLst>
                </a:gridCol>
                <a:gridCol w="1100622">
                  <a:extLst>
                    <a:ext uri="{9D8B030D-6E8A-4147-A177-3AD203B41FA5}">
                      <a16:colId xmlns:a16="http://schemas.microsoft.com/office/drawing/2014/main" val="4206886545"/>
                    </a:ext>
                  </a:extLst>
                </a:gridCol>
                <a:gridCol w="1017779">
                  <a:extLst>
                    <a:ext uri="{9D8B030D-6E8A-4147-A177-3AD203B41FA5}">
                      <a16:colId xmlns:a16="http://schemas.microsoft.com/office/drawing/2014/main" val="1099321278"/>
                    </a:ext>
                  </a:extLst>
                </a:gridCol>
                <a:gridCol w="911268">
                  <a:extLst>
                    <a:ext uri="{9D8B030D-6E8A-4147-A177-3AD203B41FA5}">
                      <a16:colId xmlns:a16="http://schemas.microsoft.com/office/drawing/2014/main" val="43306754"/>
                    </a:ext>
                  </a:extLst>
                </a:gridCol>
                <a:gridCol w="982276">
                  <a:extLst>
                    <a:ext uri="{9D8B030D-6E8A-4147-A177-3AD203B41FA5}">
                      <a16:colId xmlns:a16="http://schemas.microsoft.com/office/drawing/2014/main" val="4086807127"/>
                    </a:ext>
                  </a:extLst>
                </a:gridCol>
              </a:tblGrid>
              <a:tr h="569890">
                <a:tc gridSpan="1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Rata-Rata Lama Tamu </a:t>
                      </a:r>
                      <a:r>
                        <a:rPr lang="en-ID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Menginap</a:t>
                      </a:r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 </a:t>
                      </a:r>
                      <a:r>
                        <a:rPr lang="en-ID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Laboan</a:t>
                      </a:r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Bajo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058006"/>
                  </a:ext>
                </a:extLst>
              </a:tr>
              <a:tr h="569890">
                <a:tc gridSpan="1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974868"/>
                  </a:ext>
                </a:extLst>
              </a:tr>
              <a:tr h="5698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Januari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Febuari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Maret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April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Juni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Juli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Agustus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September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Oktober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November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Desember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4540011"/>
                  </a:ext>
                </a:extLst>
              </a:tr>
              <a:tr h="56989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1,61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1,54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779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4" y="1805947"/>
            <a:ext cx="7965461" cy="994164"/>
          </a:xfrm>
        </p:spPr>
        <p:txBody>
          <a:bodyPr/>
          <a:lstStyle/>
          <a:p>
            <a:pPr latinLnBrk="1"/>
            <a:r>
              <a:rPr lang="en-ID" b="0" dirty="0"/>
              <a:t>DESKRIPSI STATISTIK</a:t>
            </a:r>
            <a:br>
              <a:rPr lang="en-ID" b="0" dirty="0"/>
            </a:br>
            <a:br>
              <a:rPr lang="en-ID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6" y="2663638"/>
            <a:ext cx="7965460" cy="3497698"/>
          </a:xfrm>
        </p:spPr>
        <p:txBody>
          <a:bodyPr/>
          <a:lstStyle/>
          <a:p>
            <a:pPr latinLnBrk="1"/>
            <a:r>
              <a:rPr lang="en-ID" dirty="0"/>
              <a:t>Rata-rata (Mean)      : 1,73 </a:t>
            </a:r>
            <a:r>
              <a:rPr lang="en-ID" dirty="0" err="1"/>
              <a:t>hari</a:t>
            </a:r>
            <a:endParaRPr lang="en-ID" dirty="0"/>
          </a:p>
          <a:p>
            <a:pPr latinLnBrk="1"/>
            <a:endParaRPr lang="en-ID" dirty="0"/>
          </a:p>
          <a:p>
            <a:pPr latinLnBrk="1"/>
            <a:r>
              <a:rPr lang="en-ID" dirty="0" err="1"/>
              <a:t>Varians</a:t>
            </a:r>
            <a:r>
              <a:rPr lang="en-ID" dirty="0"/>
              <a:t>               : 0,02</a:t>
            </a:r>
          </a:p>
          <a:p>
            <a:pPr latinLnBrk="1"/>
            <a:endParaRPr lang="en-ID" dirty="0"/>
          </a:p>
          <a:p>
            <a:pPr latinLnBrk="1"/>
            <a:r>
              <a:rPr lang="en-ID" dirty="0" err="1"/>
              <a:t>Standar</a:t>
            </a:r>
            <a:r>
              <a:rPr lang="en-ID" dirty="0"/>
              <a:t> </a:t>
            </a:r>
            <a:r>
              <a:rPr lang="en-ID" dirty="0" err="1"/>
              <a:t>Deviasi</a:t>
            </a:r>
            <a:r>
              <a:rPr lang="en-ID" dirty="0"/>
              <a:t>       : 0,13 </a:t>
            </a:r>
            <a:r>
              <a:rPr lang="en-ID" dirty="0" err="1"/>
              <a:t>hari</a:t>
            </a:r>
            <a:endParaRPr lang="en-ID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86" y="422295"/>
            <a:ext cx="10511627" cy="1012785"/>
          </a:xfrm>
        </p:spPr>
        <p:txBody>
          <a:bodyPr/>
          <a:lstStyle/>
          <a:p>
            <a:r>
              <a:rPr lang="en-ID" dirty="0"/>
              <a:t>Z-SCORE &amp; SEBARAN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400" y="1513958"/>
            <a:ext cx="9697792" cy="2836290"/>
          </a:xfrm>
        </p:spPr>
        <p:txBody>
          <a:bodyPr>
            <a:noAutofit/>
          </a:bodyPr>
          <a:lstStyle/>
          <a:p>
            <a:pPr marL="0" indent="0" latinLnBrk="1">
              <a:buNone/>
            </a:pPr>
            <a:r>
              <a:rPr lang="en-ID" dirty="0" err="1"/>
              <a:t>Analisis</a:t>
            </a:r>
            <a:r>
              <a:rPr lang="en-ID" dirty="0"/>
              <a:t> Angka Baku (Z-Score) &amp; </a:t>
            </a:r>
            <a:r>
              <a:rPr lang="en-ID" dirty="0" err="1"/>
              <a:t>Sebaran</a:t>
            </a:r>
            <a:r>
              <a:rPr lang="en-ID" dirty="0"/>
              <a:t> Data</a:t>
            </a:r>
          </a:p>
          <a:p>
            <a:pPr marL="0" indent="0" latinLnBrk="1">
              <a:buNone/>
            </a:pPr>
            <a:r>
              <a:rPr lang="en-ID" dirty="0" err="1"/>
              <a:t>Analisis</a:t>
            </a:r>
            <a:r>
              <a:rPr lang="en-ID" dirty="0"/>
              <a:t> Sifat Data</a:t>
            </a:r>
          </a:p>
          <a:p>
            <a:pPr marL="0" indent="0" latinLnBrk="1">
              <a:buNone/>
            </a:pPr>
            <a:r>
              <a:rPr lang="en-ID" dirty="0"/>
              <a:t>Data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bersifat</a:t>
            </a:r>
            <a:r>
              <a:rPr lang="en-ID" dirty="0"/>
              <a:t> </a:t>
            </a:r>
            <a:r>
              <a:rPr lang="en-ID" dirty="0" err="1"/>
              <a:t>Heterogen</a:t>
            </a:r>
            <a:r>
              <a:rPr lang="en-ID" dirty="0"/>
              <a:t> (</a:t>
            </a:r>
            <a:r>
              <a:rPr lang="en-ID" dirty="0" err="1"/>
              <a:t>Menyebar</a:t>
            </a:r>
            <a:r>
              <a:rPr lang="en-ID" dirty="0"/>
              <a:t> Luas)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rentang</a:t>
            </a:r>
            <a:r>
              <a:rPr lang="en-ID" dirty="0"/>
              <a:t> Z-Score yang </a:t>
            </a:r>
            <a:r>
              <a:rPr lang="en-ID" dirty="0" err="1"/>
              <a:t>besar</a:t>
            </a:r>
            <a:r>
              <a:rPr lang="en-ID" dirty="0"/>
              <a:t>.</a:t>
            </a:r>
          </a:p>
          <a:p>
            <a:pPr marL="0" indent="0" latinLnBrk="1">
              <a:buNone/>
            </a:pPr>
            <a:r>
              <a:rPr lang="en-ID" dirty="0" err="1"/>
              <a:t>Temuan</a:t>
            </a:r>
            <a:r>
              <a:rPr lang="en-ID" dirty="0"/>
              <a:t> Data </a:t>
            </a:r>
            <a:r>
              <a:rPr lang="en-ID" dirty="0" err="1"/>
              <a:t>Ekstrem</a:t>
            </a:r>
            <a:endParaRPr lang="en-ID" dirty="0"/>
          </a:p>
          <a:p>
            <a:pPr marL="0" indent="0" latinLnBrk="1">
              <a:buNone/>
            </a:pPr>
            <a:r>
              <a:rPr lang="en-ID" dirty="0" err="1"/>
              <a:t>Penurunan</a:t>
            </a:r>
            <a:r>
              <a:rPr lang="en-ID" dirty="0"/>
              <a:t> </a:t>
            </a:r>
            <a:r>
              <a:rPr lang="en-ID" dirty="0" err="1"/>
              <a:t>Drastis</a:t>
            </a:r>
            <a:r>
              <a:rPr lang="en-ID" dirty="0"/>
              <a:t> (Juli) : Z = -1,40</a:t>
            </a:r>
          </a:p>
          <a:p>
            <a:pPr marL="0" indent="0" latinLnBrk="1">
              <a:buNone/>
            </a:pPr>
            <a:r>
              <a:rPr lang="en-ID" dirty="0"/>
              <a:t>Hal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diakibatkan</a:t>
            </a:r>
            <a:r>
              <a:rPr lang="en-ID" dirty="0"/>
              <a:t> </a:t>
            </a:r>
            <a:r>
              <a:rPr lang="en-ID" dirty="0" err="1"/>
              <a:t>adanya</a:t>
            </a:r>
            <a:r>
              <a:rPr lang="en-ID" dirty="0"/>
              <a:t> </a:t>
            </a:r>
            <a:r>
              <a:rPr lang="en-ID" dirty="0" err="1"/>
              <a:t>siklus</a:t>
            </a:r>
            <a:r>
              <a:rPr lang="en-ID" dirty="0"/>
              <a:t> Low season di Labuan Bajo.</a:t>
            </a:r>
          </a:p>
          <a:p>
            <a:pPr marL="0" indent="0" latinLnBrk="1">
              <a:buNone/>
            </a:pPr>
            <a:r>
              <a:rPr lang="en-ID" dirty="0" err="1"/>
              <a:t>Lonjakan</a:t>
            </a:r>
            <a:r>
              <a:rPr lang="en-ID" dirty="0"/>
              <a:t> Tinggi (Januari) : Z = 1,65</a:t>
            </a:r>
          </a:p>
          <a:p>
            <a:pPr marL="0" indent="0" latinLnBrk="1">
              <a:buNone/>
            </a:pPr>
            <a:r>
              <a:rPr lang="en-ID" dirty="0"/>
              <a:t>Hal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aktivitas</a:t>
            </a:r>
            <a:r>
              <a:rPr lang="en-ID" dirty="0"/>
              <a:t> High Season di </a:t>
            </a:r>
            <a:r>
              <a:rPr lang="en-ID" dirty="0" err="1"/>
              <a:t>awal</a:t>
            </a:r>
            <a:r>
              <a:rPr lang="en-ID" dirty="0"/>
              <a:t> </a:t>
            </a:r>
            <a:r>
              <a:rPr lang="en-ID" dirty="0" err="1"/>
              <a:t>tahun</a:t>
            </a:r>
            <a:r>
              <a:rPr lang="en-ID" dirty="0"/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0659E68-0A6E-B399-0BE6-FCBBF9179D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9676576"/>
              </p:ext>
            </p:extLst>
          </p:nvPr>
        </p:nvGraphicFramePr>
        <p:xfrm>
          <a:off x="528034" y="4938329"/>
          <a:ext cx="10823779" cy="172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2039735" imgH="1723935" progId="Excel.Sheet.12">
                  <p:embed/>
                </p:oleObj>
              </mc:Choice>
              <mc:Fallback>
                <p:oleObj name="Worksheet" r:id="rId3" imgW="12039735" imgH="1723935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80659E68-0A6E-B399-0BE6-FCBBF9179D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8034" y="4938329"/>
                        <a:ext cx="10823779" cy="172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ID" dirty="0"/>
              <a:t>PELUANG KEJADIAN TUNGGAL dan </a:t>
            </a:r>
            <a:r>
              <a:rPr lang="en-ID" dirty="0" err="1"/>
              <a:t>saling</a:t>
            </a:r>
            <a:r>
              <a:rPr lang="en-ID" dirty="0"/>
              <a:t> </a:t>
            </a:r>
            <a:r>
              <a:rPr lang="en-ID" dirty="0" err="1"/>
              <a:t>lepas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913" y="2303028"/>
            <a:ext cx="3541690" cy="3720337"/>
          </a:xfrm>
        </p:spPr>
        <p:txBody>
          <a:bodyPr>
            <a:normAutofit/>
          </a:bodyPr>
          <a:lstStyle/>
          <a:p>
            <a:pPr latinLnBrk="1"/>
            <a:r>
              <a:rPr lang="en-ID" dirty="0" err="1"/>
              <a:t>Peluang</a:t>
            </a:r>
            <a:r>
              <a:rPr lang="en-ID" dirty="0"/>
              <a:t> </a:t>
            </a:r>
            <a:r>
              <a:rPr lang="en-ID" dirty="0" err="1"/>
              <a:t>Kejadian</a:t>
            </a:r>
            <a:r>
              <a:rPr lang="en-ID" dirty="0"/>
              <a:t> Tunggal</a:t>
            </a:r>
          </a:p>
          <a:p>
            <a:pPr latinLnBrk="1"/>
            <a:endParaRPr lang="en-ID" dirty="0"/>
          </a:p>
          <a:p>
            <a:pPr latinLnBrk="1"/>
            <a:r>
              <a:rPr lang="en-ID" dirty="0"/>
              <a:t>Kasus : </a:t>
            </a:r>
            <a:r>
              <a:rPr lang="en-ID" dirty="0" err="1"/>
              <a:t>bulan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RTLM yang sangat </a:t>
            </a:r>
            <a:r>
              <a:rPr lang="en-ID" dirty="0" err="1"/>
              <a:t>ramai</a:t>
            </a:r>
            <a:r>
              <a:rPr lang="en-ID" dirty="0"/>
              <a:t> (RTLM &gt; 1,7 </a:t>
            </a:r>
            <a:r>
              <a:rPr lang="en-ID" dirty="0" err="1"/>
              <a:t>hari</a:t>
            </a:r>
            <a:r>
              <a:rPr lang="en-ID" dirty="0"/>
              <a:t>)</a:t>
            </a:r>
          </a:p>
          <a:p>
            <a:pPr latinLnBrk="1"/>
            <a:r>
              <a:rPr lang="en-ID" dirty="0" err="1"/>
              <a:t>Yaitu</a:t>
            </a:r>
            <a:r>
              <a:rPr lang="en-ID" dirty="0"/>
              <a:t> pada </a:t>
            </a:r>
            <a:r>
              <a:rPr lang="en-ID" dirty="0" err="1"/>
              <a:t>bulan</a:t>
            </a:r>
            <a:r>
              <a:rPr lang="en-ID" dirty="0"/>
              <a:t> Januari, </a:t>
            </a:r>
            <a:r>
              <a:rPr lang="en-ID" dirty="0" err="1"/>
              <a:t>Februari</a:t>
            </a:r>
            <a:r>
              <a:rPr lang="en-ID" dirty="0"/>
              <a:t>, Maret, November, </a:t>
            </a:r>
            <a:r>
              <a:rPr lang="en-ID" dirty="0" err="1"/>
              <a:t>Desember</a:t>
            </a:r>
            <a:r>
              <a:rPr lang="en-ID" dirty="0"/>
              <a:t> (5 </a:t>
            </a:r>
            <a:r>
              <a:rPr lang="en-ID" dirty="0" err="1"/>
              <a:t>bulan</a:t>
            </a:r>
            <a:r>
              <a:rPr lang="en-ID" dirty="0"/>
              <a:t>).</a:t>
            </a:r>
          </a:p>
          <a:p>
            <a:pPr latinLnBrk="1"/>
            <a:endParaRPr lang="en-ID" dirty="0"/>
          </a:p>
          <a:p>
            <a:pPr latinLnBrk="1"/>
            <a:r>
              <a:rPr lang="en-ID" dirty="0"/>
              <a:t>Hasil: P(A) = 5/12 = 0,417 </a:t>
            </a:r>
            <a:r>
              <a:rPr lang="en-ID" dirty="0" err="1"/>
              <a:t>atau</a:t>
            </a:r>
            <a:r>
              <a:rPr lang="en-ID" dirty="0"/>
              <a:t> 41,7%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7308" y="2303027"/>
            <a:ext cx="3928704" cy="3720337"/>
          </a:xfrm>
        </p:spPr>
        <p:txBody>
          <a:bodyPr>
            <a:normAutofit/>
          </a:bodyPr>
          <a:lstStyle/>
          <a:p>
            <a:pPr latinLnBrk="1"/>
            <a:r>
              <a:rPr lang="en-ID" dirty="0" err="1"/>
              <a:t>Peluang</a:t>
            </a:r>
            <a:r>
              <a:rPr lang="en-ID" dirty="0"/>
              <a:t> </a:t>
            </a:r>
            <a:r>
              <a:rPr lang="en-ID" dirty="0" err="1"/>
              <a:t>Kejadian</a:t>
            </a:r>
            <a:r>
              <a:rPr lang="en-ID" dirty="0"/>
              <a:t> Saling Lepas</a:t>
            </a:r>
          </a:p>
          <a:p>
            <a:pPr latinLnBrk="1"/>
            <a:endParaRPr lang="en-ID" dirty="0"/>
          </a:p>
          <a:p>
            <a:pPr latinLnBrk="1"/>
            <a:r>
              <a:rPr lang="en-ID" dirty="0" err="1"/>
              <a:t>Menggabungkan</a:t>
            </a:r>
            <a:r>
              <a:rPr lang="en-ID" dirty="0"/>
              <a:t> </a:t>
            </a:r>
            <a:r>
              <a:rPr lang="en-ID" dirty="0" err="1"/>
              <a:t>peluang</a:t>
            </a:r>
            <a:r>
              <a:rPr lang="en-ID" dirty="0"/>
              <a:t> sangat </a:t>
            </a:r>
            <a:r>
              <a:rPr lang="en-ID" dirty="0" err="1"/>
              <a:t>ramai</a:t>
            </a:r>
            <a:r>
              <a:rPr lang="en-ID" dirty="0"/>
              <a:t> (RTLM &gt; 1,7) dan sangat </a:t>
            </a:r>
            <a:r>
              <a:rPr lang="en-ID" dirty="0" err="1"/>
              <a:t>sepi</a:t>
            </a:r>
            <a:r>
              <a:rPr lang="en-ID" dirty="0"/>
              <a:t> (RTLM &lt; 1,6),</a:t>
            </a:r>
          </a:p>
          <a:p>
            <a:pPr latinLnBrk="1"/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hotel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sangat </a:t>
            </a:r>
            <a:r>
              <a:rPr lang="en-ID" dirty="0" err="1"/>
              <a:t>ramai</a:t>
            </a:r>
            <a:r>
              <a:rPr lang="en-ID" dirty="0"/>
              <a:t> </a:t>
            </a:r>
            <a:r>
              <a:rPr lang="en-ID" dirty="0" err="1"/>
              <a:t>sekaligus</a:t>
            </a:r>
            <a:r>
              <a:rPr lang="en-ID" dirty="0"/>
              <a:t> sangat </a:t>
            </a:r>
            <a:r>
              <a:rPr lang="en-ID" dirty="0" err="1"/>
              <a:t>sepi</a:t>
            </a:r>
            <a:r>
              <a:rPr lang="en-ID" dirty="0"/>
              <a:t> di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bulan</a:t>
            </a:r>
            <a:r>
              <a:rPr lang="en-ID" dirty="0"/>
              <a:t> yang </a:t>
            </a:r>
            <a:r>
              <a:rPr lang="en-ID" dirty="0" err="1"/>
              <a:t>sama</a:t>
            </a:r>
            <a:r>
              <a:rPr lang="en-ID" dirty="0"/>
              <a:t>.</a:t>
            </a:r>
          </a:p>
          <a:p>
            <a:pPr latinLnBrk="1"/>
            <a:endParaRPr lang="en-ID" dirty="0"/>
          </a:p>
          <a:p>
            <a:pPr latinLnBrk="1"/>
            <a:r>
              <a:rPr lang="en-ID" dirty="0"/>
              <a:t>Hasil P(A ∪ B) = (5+1)/12 = 6/12 = 0,5 </a:t>
            </a:r>
            <a:r>
              <a:rPr lang="en-ID" dirty="0" err="1"/>
              <a:t>atau</a:t>
            </a:r>
            <a:r>
              <a:rPr lang="en-ID" dirty="0"/>
              <a:t> 50%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ID" dirty="0"/>
              <a:t>IDENTIFIKASI DISTRIBUSI PELUANG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399" y="2303463"/>
            <a:ext cx="7276564" cy="4143375"/>
          </a:xfrm>
        </p:spPr>
        <p:txBody>
          <a:bodyPr>
            <a:normAutofit/>
          </a:bodyPr>
          <a:lstStyle/>
          <a:p>
            <a:pPr marL="0" indent="0" latinLnBrk="1">
              <a:buNone/>
            </a:pPr>
            <a:r>
              <a:rPr lang="en-ID" dirty="0"/>
              <a:t>IDENTIFIKASI DISTRIBUSI PELUANG</a:t>
            </a:r>
          </a:p>
          <a:p>
            <a:pPr marL="0" indent="0" latinLnBrk="1">
              <a:buNone/>
            </a:pPr>
            <a:r>
              <a:rPr lang="en-ID" dirty="0"/>
              <a:t>Jenis</a:t>
            </a:r>
          </a:p>
          <a:p>
            <a:pPr marL="0" indent="0" latinLnBrk="1">
              <a:buNone/>
            </a:pPr>
            <a:r>
              <a:rPr lang="en-ID" dirty="0" err="1"/>
              <a:t>Distribusi</a:t>
            </a:r>
            <a:r>
              <a:rPr lang="en-ID" dirty="0"/>
              <a:t> </a:t>
            </a:r>
            <a:r>
              <a:rPr lang="en-ID" dirty="0" err="1"/>
              <a:t>Kontinu</a:t>
            </a:r>
            <a:endParaRPr lang="en-ID" dirty="0"/>
          </a:p>
          <a:p>
            <a:pPr marL="0" indent="0" latinLnBrk="1">
              <a:buNone/>
            </a:pPr>
            <a:r>
              <a:rPr lang="en-ID" dirty="0"/>
              <a:t>Alasan</a:t>
            </a:r>
          </a:p>
          <a:p>
            <a:pPr marL="0" indent="0" latinLnBrk="1">
              <a:buNone/>
            </a:pPr>
            <a:r>
              <a:rPr lang="en-ID" dirty="0"/>
              <a:t>Data RTLM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desimal</a:t>
            </a:r>
            <a:r>
              <a:rPr lang="en-ID" dirty="0"/>
              <a:t> (</a:t>
            </a:r>
            <a:r>
              <a:rPr lang="en-ID" dirty="0" err="1"/>
              <a:t>angka</a:t>
            </a:r>
            <a:r>
              <a:rPr lang="en-ID" dirty="0"/>
              <a:t> di </a:t>
            </a:r>
            <a:r>
              <a:rPr lang="en-ID" dirty="0" err="1"/>
              <a:t>belakang</a:t>
            </a:r>
            <a:r>
              <a:rPr lang="en-ID" dirty="0"/>
              <a:t> </a:t>
            </a:r>
            <a:r>
              <a:rPr lang="en-ID" dirty="0" err="1"/>
              <a:t>koma</a:t>
            </a:r>
            <a:r>
              <a:rPr lang="en-ID" dirty="0"/>
              <a:t>) dan </a:t>
            </a:r>
            <a:r>
              <a:rPr lang="en-ID" dirty="0" err="1"/>
              <a:t>berada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rentang</a:t>
            </a:r>
            <a:r>
              <a:rPr lang="en-ID" dirty="0"/>
              <a:t> </a:t>
            </a:r>
            <a:r>
              <a:rPr lang="en-ID" dirty="0" err="1"/>
              <a:t>kontinu</a:t>
            </a:r>
            <a:r>
              <a:rPr lang="en-ID" dirty="0"/>
              <a:t> 1,5 - 2,0 </a:t>
            </a:r>
            <a:r>
              <a:rPr lang="en-ID" dirty="0" err="1"/>
              <a:t>hari</a:t>
            </a:r>
            <a:r>
              <a:rPr lang="en-ID" dirty="0"/>
              <a:t>.</a:t>
            </a:r>
          </a:p>
          <a:p>
            <a:pPr marL="0" indent="0" latinLnBrk="1">
              <a:buNone/>
            </a:pPr>
            <a:r>
              <a:rPr lang="en-ID" dirty="0" err="1"/>
              <a:t>Prediksi</a:t>
            </a:r>
            <a:r>
              <a:rPr lang="en-ID" dirty="0"/>
              <a:t> </a:t>
            </a:r>
            <a:r>
              <a:rPr lang="en-ID" dirty="0" err="1"/>
              <a:t>Peluang</a:t>
            </a:r>
            <a:r>
              <a:rPr lang="en-ID" dirty="0"/>
              <a:t> Target RTLM 2,0 Hari</a:t>
            </a:r>
          </a:p>
          <a:p>
            <a:pPr marL="0" indent="0" latinLnBrk="1">
              <a:buNone/>
            </a:pP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DF0018C3-9312-E31F-F86D-278B0B5135F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6092" t="2739" r="47708" b="-2739"/>
          <a:stretch>
            <a:fillRect/>
          </a:stretch>
        </p:blipFill>
        <p:spPr>
          <a:xfrm>
            <a:off x="8989454" y="965393"/>
            <a:ext cx="3202545" cy="5892607"/>
          </a:xfrm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12122" y="2769673"/>
            <a:ext cx="8422785" cy="3721817"/>
          </a:xfrm>
        </p:spPr>
        <p:txBody>
          <a:bodyPr/>
          <a:lstStyle/>
          <a:p>
            <a:pPr latinLnBrk="1"/>
            <a:r>
              <a:rPr lang="en-ID" dirty="0"/>
              <a:t>Hasil </a:t>
            </a:r>
            <a:r>
              <a:rPr lang="en-ID" dirty="0" err="1"/>
              <a:t>Perhitungan</a:t>
            </a:r>
            <a:r>
              <a:rPr lang="en-ID" dirty="0"/>
              <a:t> : </a:t>
            </a:r>
            <a:r>
              <a:rPr lang="en-ID" dirty="0" err="1"/>
              <a:t>Peluang</a:t>
            </a:r>
            <a:r>
              <a:rPr lang="en-ID" dirty="0"/>
              <a:t> RTLM Labuan Bajo </a:t>
            </a:r>
            <a:r>
              <a:rPr lang="en-ID" dirty="0" err="1"/>
              <a:t>menembus</a:t>
            </a:r>
            <a:r>
              <a:rPr lang="en-ID" dirty="0"/>
              <a:t> </a:t>
            </a:r>
          </a:p>
          <a:p>
            <a:pPr latinLnBrk="1"/>
            <a:r>
              <a:rPr lang="en-ID" dirty="0" err="1"/>
              <a:t>angka</a:t>
            </a:r>
            <a:r>
              <a:rPr lang="en-ID" dirty="0"/>
              <a:t> 2,0 </a:t>
            </a:r>
            <a:r>
              <a:rPr lang="en-ID" dirty="0" err="1"/>
              <a:t>hari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0,019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1,9%</a:t>
            </a:r>
          </a:p>
          <a:p>
            <a:pPr latinLnBrk="1"/>
            <a:r>
              <a:rPr lang="en-ID" dirty="0"/>
              <a:t>Kesimpulan : Target 2,0 </a:t>
            </a:r>
            <a:r>
              <a:rPr lang="en-ID" dirty="0" err="1"/>
              <a:t>hari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statistik</a:t>
            </a:r>
            <a:r>
              <a:rPr lang="en-ID" dirty="0"/>
              <a:t> </a:t>
            </a:r>
            <a:r>
              <a:rPr lang="en-ID" dirty="0" err="1"/>
              <a:t>hampir</a:t>
            </a:r>
            <a:r>
              <a:rPr lang="en-ID" dirty="0"/>
              <a:t> </a:t>
            </a:r>
            <a:r>
              <a:rPr lang="en-ID" dirty="0" err="1"/>
              <a:t>mustahil</a:t>
            </a:r>
            <a:r>
              <a:rPr lang="en-ID" dirty="0"/>
              <a:t> </a:t>
            </a:r>
          </a:p>
          <a:p>
            <a:pPr latinLnBrk="1"/>
            <a:r>
              <a:rPr lang="en-ID" dirty="0" err="1"/>
              <a:t>tercapai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alami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adanya</a:t>
            </a:r>
            <a:r>
              <a:rPr lang="en-ID" dirty="0"/>
              <a:t> </a:t>
            </a:r>
            <a:r>
              <a:rPr lang="en-ID" dirty="0" err="1"/>
              <a:t>intervensi</a:t>
            </a:r>
            <a:r>
              <a:rPr lang="en-ID" dirty="0"/>
              <a:t> </a:t>
            </a:r>
            <a:r>
              <a:rPr lang="en-ID" dirty="0" err="1"/>
              <a:t>pemasaran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event </a:t>
            </a:r>
            <a:r>
              <a:rPr lang="en-ID" dirty="0" err="1"/>
              <a:t>besar</a:t>
            </a:r>
            <a:r>
              <a:rPr lang="en-ID" dirty="0"/>
              <a:t>.</a:t>
            </a: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048A90F-F2F3-C6FC-A340-A69E7D783B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8429602"/>
              </p:ext>
            </p:extLst>
          </p:nvPr>
        </p:nvGraphicFramePr>
        <p:xfrm>
          <a:off x="540980" y="837127"/>
          <a:ext cx="7053644" cy="1687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3743337" imgH="895161" progId="Excel.Sheet.12">
                  <p:embed/>
                </p:oleObj>
              </mc:Choice>
              <mc:Fallback>
                <p:oleObj name="Worksheet" r:id="rId4" imgW="3743337" imgH="895161" progId="Excel.Sheet.12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0048A90F-F2F3-C6FC-A340-A69E7D783B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0980" y="837127"/>
                        <a:ext cx="7053644" cy="16871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3366" y="1273082"/>
            <a:ext cx="9875463" cy="999746"/>
          </a:xfrm>
        </p:spPr>
        <p:txBody>
          <a:bodyPr/>
          <a:lstStyle/>
          <a:p>
            <a:r>
              <a:rPr lang="en-US" dirty="0"/>
              <a:t>Kesimpulan &amp; saran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53366" y="2617222"/>
            <a:ext cx="8585109" cy="3961593"/>
          </a:xfrm>
        </p:spPr>
        <p:txBody>
          <a:bodyPr>
            <a:normAutofit/>
          </a:bodyPr>
          <a:lstStyle/>
          <a:p>
            <a:pPr marL="0" indent="0" latinLnBrk="1">
              <a:buNone/>
            </a:pPr>
            <a:r>
              <a:rPr lang="en-ID" dirty="0" err="1"/>
              <a:t>Ringkasan</a:t>
            </a:r>
            <a:endParaRPr lang="en-ID" dirty="0"/>
          </a:p>
          <a:p>
            <a:pPr marL="0" indent="0" latinLnBrk="1">
              <a:buNone/>
            </a:pPr>
            <a:r>
              <a:rPr lang="en-ID" dirty="0"/>
              <a:t>Performa rata-rata lama </a:t>
            </a:r>
            <a:r>
              <a:rPr lang="en-ID" dirty="0" err="1"/>
              <a:t>tamu</a:t>
            </a:r>
            <a:r>
              <a:rPr lang="en-ID" dirty="0"/>
              <a:t> </a:t>
            </a:r>
            <a:r>
              <a:rPr lang="en-ID" dirty="0" err="1"/>
              <a:t>menginap</a:t>
            </a:r>
            <a:r>
              <a:rPr lang="en-ID" dirty="0"/>
              <a:t> di Labuan Bajo </a:t>
            </a:r>
            <a:r>
              <a:rPr lang="en-ID" dirty="0" err="1"/>
              <a:t>tahun</a:t>
            </a:r>
            <a:r>
              <a:rPr lang="en-ID" dirty="0"/>
              <a:t> 2024 sangat </a:t>
            </a:r>
            <a:r>
              <a:rPr lang="en-ID" dirty="0" err="1"/>
              <a:t>dipengaruhi</a:t>
            </a:r>
            <a:r>
              <a:rPr lang="en-ID" dirty="0"/>
              <a:t> </a:t>
            </a:r>
            <a:r>
              <a:rPr lang="en-ID" dirty="0" err="1"/>
              <a:t>pola</a:t>
            </a:r>
            <a:r>
              <a:rPr lang="en-ID" dirty="0"/>
              <a:t> </a:t>
            </a:r>
            <a:r>
              <a:rPr lang="en-ID" dirty="0" err="1"/>
              <a:t>musiman</a:t>
            </a:r>
            <a:r>
              <a:rPr lang="en-ID" dirty="0"/>
              <a:t> (High Season </a:t>
            </a:r>
            <a:r>
              <a:rPr lang="en-ID" dirty="0" err="1"/>
              <a:t>awal</a:t>
            </a:r>
            <a:r>
              <a:rPr lang="en-ID" dirty="0"/>
              <a:t> </a:t>
            </a:r>
            <a:r>
              <a:rPr lang="en-ID" dirty="0" err="1"/>
              <a:t>tahun</a:t>
            </a:r>
            <a:r>
              <a:rPr lang="en-ID" dirty="0"/>
              <a:t> dan Low Season </a:t>
            </a:r>
            <a:r>
              <a:rPr lang="en-ID" dirty="0" err="1"/>
              <a:t>pertengahan</a:t>
            </a:r>
            <a:r>
              <a:rPr lang="en-ID" dirty="0"/>
              <a:t> </a:t>
            </a:r>
            <a:r>
              <a:rPr lang="en-ID" dirty="0" err="1"/>
              <a:t>tahun</a:t>
            </a:r>
            <a:r>
              <a:rPr lang="en-ID" dirty="0"/>
              <a:t>).</a:t>
            </a:r>
          </a:p>
          <a:p>
            <a:pPr marL="0" indent="0" latinLnBrk="1">
              <a:buNone/>
            </a:pPr>
            <a:r>
              <a:rPr lang="en-ID" dirty="0"/>
              <a:t>Saran</a:t>
            </a:r>
          </a:p>
          <a:p>
            <a:pPr marL="0" indent="0" latinLnBrk="1">
              <a:buNone/>
            </a:pPr>
            <a:r>
              <a:rPr lang="en-ID" dirty="0"/>
              <a:t>Hotel </a:t>
            </a:r>
            <a:r>
              <a:rPr lang="en-ID" dirty="0" err="1"/>
              <a:t>perlu</a:t>
            </a:r>
            <a:r>
              <a:rPr lang="en-ID" dirty="0"/>
              <a:t> </a:t>
            </a:r>
            <a:r>
              <a:rPr lang="en-ID" dirty="0" err="1"/>
              <a:t>waspada</a:t>
            </a:r>
            <a:r>
              <a:rPr lang="en-ID" dirty="0"/>
              <a:t> pada </a:t>
            </a:r>
            <a:r>
              <a:rPr lang="en-ID" dirty="0" err="1"/>
              <a:t>bulan</a:t>
            </a:r>
            <a:r>
              <a:rPr lang="en-ID" dirty="0"/>
              <a:t> Juli (Low season) dan </a:t>
            </a:r>
            <a:r>
              <a:rPr lang="en-ID" dirty="0" err="1"/>
              <a:t>memaksimalkan</a:t>
            </a:r>
            <a:r>
              <a:rPr lang="en-ID" dirty="0"/>
              <a:t> </a:t>
            </a:r>
            <a:r>
              <a:rPr lang="en-ID" dirty="0" err="1"/>
              <a:t>pendapatan</a:t>
            </a:r>
            <a:r>
              <a:rPr lang="en-ID" dirty="0"/>
              <a:t> di </a:t>
            </a:r>
            <a:r>
              <a:rPr lang="en-ID" dirty="0" err="1"/>
              <a:t>bulan</a:t>
            </a:r>
            <a:r>
              <a:rPr lang="en-ID" dirty="0"/>
              <a:t> Januari-Maret (High season).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Any question?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{414DEADC-224D-4DE1-A0BC-C91BAFEDAB85}TF8a9b5915-b8c7-461e-8cdd-693d48b5e32371f7b7e2_win32-4bf0b9a2ea37</Template>
  <TotalTime>77</TotalTime>
  <Words>467</Words>
  <Application>Microsoft Office PowerPoint</Application>
  <PresentationFormat>Widescreen</PresentationFormat>
  <Paragraphs>91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Custom</vt:lpstr>
      <vt:lpstr>Analisis Rata – rata lama tamu menginap (rtlm) di labuan bajo</vt:lpstr>
      <vt:lpstr>PENDAHULUAN</vt:lpstr>
      <vt:lpstr>Sumber data</vt:lpstr>
      <vt:lpstr>PowerPoint Presentation</vt:lpstr>
      <vt:lpstr>DESKRIPSI STATISTIK  </vt:lpstr>
      <vt:lpstr>Z-SCORE &amp; SEBARAN DATA</vt:lpstr>
      <vt:lpstr>PELUANG KEJADIAN TUNGGAL dan saling lepas</vt:lpstr>
      <vt:lpstr>IDENTIFIKASI DISTRIBUSI PELUANG</vt:lpstr>
      <vt:lpstr>PowerPoint Presentation</vt:lpstr>
      <vt:lpstr>Kesimpulan &amp; saran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Rata – rata lama tamu menginap (rtlm) di labuan bajo</dc:title>
  <dc:subject/>
  <dc:creator>Naya Namira</dc:creator>
  <cp:lastModifiedBy>mochi.thadasi@gmail.com</cp:lastModifiedBy>
  <cp:revision>2</cp:revision>
  <dcterms:created xsi:type="dcterms:W3CDTF">2026-04-05T13:16:10Z</dcterms:created>
  <dcterms:modified xsi:type="dcterms:W3CDTF">2026-04-05T14:43:05Z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